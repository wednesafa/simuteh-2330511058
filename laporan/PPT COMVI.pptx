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Canva Sans Bold" charset="1" panose="020B0803030501040103"/>
      <p:regular r:id="rId20"/>
    </p:embeddedFont>
    <p:embeddedFont>
      <p:font typeface="Canva Sans" charset="1" panose="020B05030305010401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embeddings/oleObject3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94246" y="0"/>
            <a:ext cx="5518733" cy="10287000"/>
            <a:chOff x="0" y="0"/>
            <a:chExt cx="854996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54996" cy="1593725"/>
            </a:xfrm>
            <a:custGeom>
              <a:avLst/>
              <a:gdLst/>
              <a:ahLst/>
              <a:cxnLst/>
              <a:rect r="r" b="b" t="t" l="l"/>
              <a:pathLst>
                <a:path h="1593725" w="854996">
                  <a:moveTo>
                    <a:pt x="0" y="0"/>
                  </a:moveTo>
                  <a:lnTo>
                    <a:pt x="854996" y="0"/>
                  </a:lnTo>
                  <a:lnTo>
                    <a:pt x="85499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9888" t="0" r="-89888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8326666">
            <a:off x="696006" y="7106811"/>
            <a:ext cx="4153944" cy="3115458"/>
          </a:xfrm>
          <a:custGeom>
            <a:avLst/>
            <a:gdLst/>
            <a:ahLst/>
            <a:cxnLst/>
            <a:rect r="r" b="b" t="t" l="l"/>
            <a:pathLst>
              <a:path h="3115458" w="4153944">
                <a:moveTo>
                  <a:pt x="0" y="0"/>
                </a:moveTo>
                <a:lnTo>
                  <a:pt x="4153944" y="0"/>
                </a:lnTo>
                <a:lnTo>
                  <a:pt x="4153944" y="3115458"/>
                </a:lnTo>
                <a:lnTo>
                  <a:pt x="0" y="3115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774819">
            <a:off x="10913" y="3239650"/>
            <a:ext cx="2507410" cy="1880557"/>
          </a:xfrm>
          <a:custGeom>
            <a:avLst/>
            <a:gdLst/>
            <a:ahLst/>
            <a:cxnLst/>
            <a:rect r="r" b="b" t="t" l="l"/>
            <a:pathLst>
              <a:path h="1880557" w="2507410">
                <a:moveTo>
                  <a:pt x="0" y="0"/>
                </a:moveTo>
                <a:lnTo>
                  <a:pt x="2507410" y="0"/>
                </a:lnTo>
                <a:lnTo>
                  <a:pt x="2507410" y="1880557"/>
                </a:lnTo>
                <a:lnTo>
                  <a:pt x="0" y="188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56261" y="4923658"/>
            <a:ext cx="6940668" cy="190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52"/>
              </a:lnSpc>
            </a:pPr>
            <a:r>
              <a:rPr lang="en-US" sz="3885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PENGOLAHAN CITRA DIGITAL UNTUK ANALISIS MUTU DAUN TEH BERDASARKAN KONDISI BERCAK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56261" y="3447142"/>
            <a:ext cx="6940668" cy="1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3"/>
              </a:lnSpc>
            </a:pPr>
            <a:r>
              <a:rPr lang="en-US" sz="10343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SIMUTEH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55970" y="981075"/>
            <a:ext cx="899478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b="true" sz="1599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20988" y="981075"/>
            <a:ext cx="1158882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5411" y="981075"/>
            <a:ext cx="18236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Documentation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134556" y="981075"/>
            <a:ext cx="1124744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94793" y="7820625"/>
            <a:ext cx="6663603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Safa Zahra Raudya 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2330511058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3156658">
            <a:off x="1519273" y="324007"/>
            <a:ext cx="2507410" cy="1880557"/>
          </a:xfrm>
          <a:custGeom>
            <a:avLst/>
            <a:gdLst/>
            <a:ahLst/>
            <a:cxnLst/>
            <a:rect r="r" b="b" t="t" l="l"/>
            <a:pathLst>
              <a:path h="1880557" w="2507410">
                <a:moveTo>
                  <a:pt x="0" y="0"/>
                </a:moveTo>
                <a:lnTo>
                  <a:pt x="2507410" y="0"/>
                </a:lnTo>
                <a:lnTo>
                  <a:pt x="2507410" y="1880557"/>
                </a:lnTo>
                <a:lnTo>
                  <a:pt x="0" y="1880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46639" y="938077"/>
            <a:ext cx="14794723" cy="1207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2"/>
              </a:lnSpc>
            </a:pPr>
            <a:r>
              <a:rPr lang="en-US" b="true" sz="8864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MASALAH &amp; PENGGUNA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488069"/>
            <a:ext cx="7665873" cy="2810354"/>
            <a:chOff x="0" y="0"/>
            <a:chExt cx="2018995" cy="7401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8995" cy="740176"/>
            </a:xfrm>
            <a:custGeom>
              <a:avLst/>
              <a:gdLst/>
              <a:ahLst/>
              <a:cxnLst/>
              <a:rect r="r" b="b" t="t" l="l"/>
              <a:pathLst>
                <a:path h="740176" w="2018995">
                  <a:moveTo>
                    <a:pt x="0" y="0"/>
                  </a:moveTo>
                  <a:lnTo>
                    <a:pt x="2018995" y="0"/>
                  </a:lnTo>
                  <a:lnTo>
                    <a:pt x="2018995" y="740176"/>
                  </a:lnTo>
                  <a:lnTo>
                    <a:pt x="0" y="74017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018995" cy="78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2488069"/>
            <a:ext cx="7665873" cy="2810354"/>
            <a:chOff x="0" y="0"/>
            <a:chExt cx="2018995" cy="740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8995" cy="740176"/>
            </a:xfrm>
            <a:custGeom>
              <a:avLst/>
              <a:gdLst/>
              <a:ahLst/>
              <a:cxnLst/>
              <a:rect r="r" b="b" t="t" l="l"/>
              <a:pathLst>
                <a:path h="740176" w="2018995">
                  <a:moveTo>
                    <a:pt x="0" y="0"/>
                  </a:moveTo>
                  <a:lnTo>
                    <a:pt x="2018995" y="0"/>
                  </a:lnTo>
                  <a:lnTo>
                    <a:pt x="2018995" y="740176"/>
                  </a:lnTo>
                  <a:lnTo>
                    <a:pt x="0" y="740176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18995" cy="787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34643" y="2774044"/>
            <a:ext cx="5423520" cy="43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249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PERMASALAHAN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9358" y="2774044"/>
            <a:ext cx="5423520" cy="43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249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PENGGUNA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34643" y="3615133"/>
            <a:ext cx="7234259" cy="147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4"/>
              </a:lnSpc>
              <a:spcBef>
                <a:spcPct val="0"/>
              </a:spcBef>
            </a:pPr>
            <a:r>
              <a:rPr lang="en-US" sz="2745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Penyortiran manual tidak selalu konsisten, terutama ketika bercak kecil dan pencahayaan berbeda-beda.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9358" y="3462366"/>
            <a:ext cx="7192003" cy="14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50"/>
              </a:lnSpc>
              <a:spcBef>
                <a:spcPct val="0"/>
              </a:spcBef>
            </a:pPr>
            <a:r>
              <a:rPr lang="en-US" sz="2750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Petugas penyortiran dan kelompok tani yang membutuhkan alat bantu penilaian mutu daun teh.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6447946"/>
            <a:ext cx="15781173" cy="3213701"/>
            <a:chOff x="0" y="0"/>
            <a:chExt cx="4156358" cy="8464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56358" cy="846407"/>
            </a:xfrm>
            <a:custGeom>
              <a:avLst/>
              <a:gdLst/>
              <a:ahLst/>
              <a:cxnLst/>
              <a:rect r="r" b="b" t="t" l="l"/>
              <a:pathLst>
                <a:path h="846407" w="4156358">
                  <a:moveTo>
                    <a:pt x="0" y="0"/>
                  </a:moveTo>
                  <a:lnTo>
                    <a:pt x="4156358" y="0"/>
                  </a:lnTo>
                  <a:lnTo>
                    <a:pt x="4156358" y="846407"/>
                  </a:lnTo>
                  <a:lnTo>
                    <a:pt x="0" y="846407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156358" cy="894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4643" y="6908350"/>
            <a:ext cx="5423520" cy="43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3249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4643" y="7587146"/>
            <a:ext cx="15306719" cy="175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Bagaimana sistem visi komputer dapat membantu mengelompokkan mutu daun teh dan mengukur luas bercak secara konsisten pada berbagai kondisi pencahayaan?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9422" y="412113"/>
            <a:ext cx="6755704" cy="9505025"/>
          </a:xfrm>
          <a:custGeom>
            <a:avLst/>
            <a:gdLst/>
            <a:ahLst/>
            <a:cxnLst/>
            <a:rect r="r" b="b" t="t" l="l"/>
            <a:pathLst>
              <a:path h="9505025" w="6755704">
                <a:moveTo>
                  <a:pt x="0" y="0"/>
                </a:moveTo>
                <a:lnTo>
                  <a:pt x="6755704" y="0"/>
                </a:lnTo>
                <a:lnTo>
                  <a:pt x="6755704" y="9505025"/>
                </a:lnTo>
                <a:lnTo>
                  <a:pt x="0" y="9505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55" t="-2436" r="-6284" b="-925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3852" y="3097847"/>
            <a:ext cx="7994697" cy="34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  <a:spcBef>
                <a:spcPct val="0"/>
              </a:spcBef>
            </a:pPr>
            <a:r>
              <a:rPr lang="en-US" sz="1962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Posisi p1 - p4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39118" y="485424"/>
            <a:ext cx="9560248" cy="975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7046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SIMUTEH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2658807" y="-83714"/>
            <a:ext cx="1535112" cy="1544767"/>
          </a:xfrm>
          <a:custGeom>
            <a:avLst/>
            <a:gdLst/>
            <a:ahLst/>
            <a:cxnLst/>
            <a:rect r="r" b="b" t="t" l="l"/>
            <a:pathLst>
              <a:path h="1544767" w="1535112">
                <a:moveTo>
                  <a:pt x="0" y="0"/>
                </a:moveTo>
                <a:lnTo>
                  <a:pt x="1535113" y="0"/>
                </a:lnTo>
                <a:lnTo>
                  <a:pt x="1535113" y="1544767"/>
                </a:lnTo>
                <a:lnTo>
                  <a:pt x="0" y="1544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27026" y="-613595"/>
            <a:ext cx="1565795" cy="1565795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462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440727" y="5099182"/>
            <a:ext cx="1233229" cy="123322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F0B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1839918"/>
            <a:ext cx="16230600" cy="3542504"/>
            <a:chOff x="0" y="0"/>
            <a:chExt cx="4274726" cy="9330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74726" cy="933005"/>
            </a:xfrm>
            <a:custGeom>
              <a:avLst/>
              <a:gdLst/>
              <a:ahLst/>
              <a:cxnLst/>
              <a:rect r="r" b="b" t="t" l="l"/>
              <a:pathLst>
                <a:path h="933005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933005"/>
                  </a:lnTo>
                  <a:lnTo>
                    <a:pt x="0" y="933005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274726" cy="980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715505" y="2189250"/>
            <a:ext cx="2874385" cy="1897065"/>
          </a:xfrm>
          <a:custGeom>
            <a:avLst/>
            <a:gdLst/>
            <a:ahLst/>
            <a:cxnLst/>
            <a:rect r="r" b="b" t="t" l="l"/>
            <a:pathLst>
              <a:path h="1897065" w="2874385">
                <a:moveTo>
                  <a:pt x="0" y="0"/>
                </a:moveTo>
                <a:lnTo>
                  <a:pt x="2874384" y="0"/>
                </a:lnTo>
                <a:lnTo>
                  <a:pt x="2874384" y="1897065"/>
                </a:lnTo>
                <a:lnTo>
                  <a:pt x="0" y="1897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456" t="-9918" r="-9819" b="-3471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74297" y="2166180"/>
            <a:ext cx="3067659" cy="2205913"/>
          </a:xfrm>
          <a:custGeom>
            <a:avLst/>
            <a:gdLst/>
            <a:ahLst/>
            <a:cxnLst/>
            <a:rect r="r" b="b" t="t" l="l"/>
            <a:pathLst>
              <a:path h="2205913" w="3067659">
                <a:moveTo>
                  <a:pt x="0" y="0"/>
                </a:moveTo>
                <a:lnTo>
                  <a:pt x="3067659" y="0"/>
                </a:lnTo>
                <a:lnTo>
                  <a:pt x="3067659" y="2205913"/>
                </a:lnTo>
                <a:lnTo>
                  <a:pt x="0" y="22059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354" t="0" r="0" b="-1614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426364" y="2127996"/>
            <a:ext cx="3014363" cy="1958319"/>
          </a:xfrm>
          <a:custGeom>
            <a:avLst/>
            <a:gdLst/>
            <a:ahLst/>
            <a:cxnLst/>
            <a:rect r="r" b="b" t="t" l="l"/>
            <a:pathLst>
              <a:path h="1958319" w="3014363">
                <a:moveTo>
                  <a:pt x="0" y="0"/>
                </a:moveTo>
                <a:lnTo>
                  <a:pt x="3014363" y="0"/>
                </a:lnTo>
                <a:lnTo>
                  <a:pt x="3014363" y="1958319"/>
                </a:lnTo>
                <a:lnTo>
                  <a:pt x="0" y="19583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607" t="-39156" r="-35910" b="-29989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028700" y="5715796"/>
            <a:ext cx="16230600" cy="4272812"/>
            <a:chOff x="0" y="0"/>
            <a:chExt cx="4274726" cy="11253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74726" cy="1125350"/>
            </a:xfrm>
            <a:custGeom>
              <a:avLst/>
              <a:gdLst/>
              <a:ahLst/>
              <a:cxnLst/>
              <a:rect r="r" b="b" t="t" l="l"/>
              <a:pathLst>
                <a:path h="112535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125350"/>
                  </a:lnTo>
                  <a:lnTo>
                    <a:pt x="0" y="1125350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274726" cy="117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359861" y="6575238"/>
            <a:ext cx="3149002" cy="2361751"/>
          </a:xfrm>
          <a:custGeom>
            <a:avLst/>
            <a:gdLst/>
            <a:ahLst/>
            <a:cxnLst/>
            <a:rect r="r" b="b" t="t" l="l"/>
            <a:pathLst>
              <a:path h="2361751" w="3149002">
                <a:moveTo>
                  <a:pt x="0" y="0"/>
                </a:moveTo>
                <a:lnTo>
                  <a:pt x="3149001" y="0"/>
                </a:lnTo>
                <a:lnTo>
                  <a:pt x="3149001" y="2361752"/>
                </a:lnTo>
                <a:lnTo>
                  <a:pt x="0" y="2361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508862" y="6606223"/>
            <a:ext cx="3107689" cy="2330767"/>
          </a:xfrm>
          <a:custGeom>
            <a:avLst/>
            <a:gdLst/>
            <a:ahLst/>
            <a:cxnLst/>
            <a:rect r="r" b="b" t="t" l="l"/>
            <a:pathLst>
              <a:path h="2330767" w="3107689">
                <a:moveTo>
                  <a:pt x="0" y="0"/>
                </a:moveTo>
                <a:lnTo>
                  <a:pt x="3107690" y="0"/>
                </a:lnTo>
                <a:lnTo>
                  <a:pt x="3107690" y="2330767"/>
                </a:lnTo>
                <a:lnTo>
                  <a:pt x="0" y="23307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724241" y="6606223"/>
            <a:ext cx="3083880" cy="2312910"/>
          </a:xfrm>
          <a:custGeom>
            <a:avLst/>
            <a:gdLst/>
            <a:ahLst/>
            <a:cxnLst/>
            <a:rect r="r" b="b" t="t" l="l"/>
            <a:pathLst>
              <a:path h="2312910" w="3083880">
                <a:moveTo>
                  <a:pt x="0" y="0"/>
                </a:moveTo>
                <a:lnTo>
                  <a:pt x="3083880" y="0"/>
                </a:lnTo>
                <a:lnTo>
                  <a:pt x="3083880" y="2312909"/>
                </a:lnTo>
                <a:lnTo>
                  <a:pt x="0" y="23129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616552" y="6606223"/>
            <a:ext cx="3107689" cy="2330767"/>
          </a:xfrm>
          <a:custGeom>
            <a:avLst/>
            <a:gdLst/>
            <a:ahLst/>
            <a:cxnLst/>
            <a:rect r="r" b="b" t="t" l="l"/>
            <a:pathLst>
              <a:path h="2330767" w="3107689">
                <a:moveTo>
                  <a:pt x="0" y="0"/>
                </a:moveTo>
                <a:lnTo>
                  <a:pt x="3107689" y="0"/>
                </a:lnTo>
                <a:lnTo>
                  <a:pt x="3107689" y="2330767"/>
                </a:lnTo>
                <a:lnTo>
                  <a:pt x="0" y="23307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08121" y="6606223"/>
            <a:ext cx="3083880" cy="2312910"/>
          </a:xfrm>
          <a:custGeom>
            <a:avLst/>
            <a:gdLst/>
            <a:ahLst/>
            <a:cxnLst/>
            <a:rect r="r" b="b" t="t" l="l"/>
            <a:pathLst>
              <a:path h="2312910" w="3083880">
                <a:moveTo>
                  <a:pt x="0" y="0"/>
                </a:moveTo>
                <a:lnTo>
                  <a:pt x="3083879" y="0"/>
                </a:lnTo>
                <a:lnTo>
                  <a:pt x="3083879" y="2312909"/>
                </a:lnTo>
                <a:lnTo>
                  <a:pt x="0" y="23129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59825" y="1940727"/>
            <a:ext cx="39857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Kelas Daun Teh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59825" y="4200671"/>
            <a:ext cx="39857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Bersih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 citra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6370" y="4200671"/>
            <a:ext cx="39857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Bercak Ringan 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 citra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40673" y="4200671"/>
            <a:ext cx="398574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Bercak Berat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20 citra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59825" y="5816606"/>
            <a:ext cx="39857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Lima Kondisi Daun Teh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285646" y="9222740"/>
            <a:ext cx="12974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13992" y="9270365"/>
            <a:ext cx="12974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Gelap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495285" y="9270365"/>
            <a:ext cx="129743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Terang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887306" y="9270365"/>
            <a:ext cx="275774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Kontras Rendah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35833" y="9222740"/>
            <a:ext cx="182845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Bayangan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87342"/>
            <a:ext cx="12616711" cy="1208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58"/>
              </a:lnSpc>
            </a:pPr>
            <a:r>
              <a:rPr lang="en-US" sz="8892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SYARAT AKUISISI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347198"/>
            <a:ext cx="9503616" cy="3041483"/>
            <a:chOff x="0" y="0"/>
            <a:chExt cx="12671488" cy="405531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2671488" cy="4055310"/>
              <a:chOff x="0" y="0"/>
              <a:chExt cx="2503010" cy="80104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503010" cy="801049"/>
              </a:xfrm>
              <a:custGeom>
                <a:avLst/>
                <a:gdLst/>
                <a:ahLst/>
                <a:cxnLst/>
                <a:rect r="r" b="b" t="t" l="l"/>
                <a:pathLst>
                  <a:path h="801049" w="2503010">
                    <a:moveTo>
                      <a:pt x="0" y="0"/>
                    </a:moveTo>
                    <a:lnTo>
                      <a:pt x="2503010" y="0"/>
                    </a:lnTo>
                    <a:lnTo>
                      <a:pt x="2503010" y="801049"/>
                    </a:lnTo>
                    <a:lnTo>
                      <a:pt x="0" y="801049"/>
                    </a:lnTo>
                    <a:close/>
                  </a:path>
                </a:pathLst>
              </a:custGeom>
              <a:ln w="9525" cap="sq">
                <a:solidFill>
                  <a:srgbClr val="2C4622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503010" cy="8486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74653" y="446817"/>
              <a:ext cx="11922181" cy="36084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80"/>
                </a:lnSpc>
              </a:pP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2C462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Ukuran bercak pada sensor = \(4 \times 5 / 300 = 0,0667\) mm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2C462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Bercak pada citra awal = \(0,0667 / 0,0014 = 47,62\) piksel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2C462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Setelah resize 640 px = \(47,62 \times 0,16 = 7,62\) piksel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2C4622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Jarak maksimum agar bercak minimal 10 piksel setelah resize = 228,57 mm</a:t>
              </a:r>
            </a:p>
            <a:p>
              <a:pPr algn="l">
                <a:lnSpc>
                  <a:spcPts val="3080"/>
                </a:lnSpc>
                <a:spcBef>
                  <a:spcPct val="0"/>
                </a:spcBef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16884" y="236209"/>
              <a:ext cx="3349352" cy="449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  <a:spcBef>
                  <a:spcPct val="0"/>
                </a:spcBef>
              </a:pPr>
              <a:r>
                <a:rPr lang="en-US" sz="2000" b="true">
                  <a:solidFill>
                    <a:srgbClr val="2C462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Hasil Perhitungan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755684" y="6216817"/>
            <a:ext cx="9503616" cy="3041483"/>
            <a:chOff x="0" y="0"/>
            <a:chExt cx="2503010" cy="801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03010" cy="801049"/>
            </a:xfrm>
            <a:custGeom>
              <a:avLst/>
              <a:gdLst/>
              <a:ahLst/>
              <a:cxnLst/>
              <a:rect r="r" b="b" t="t" l="l"/>
              <a:pathLst>
                <a:path h="801049" w="2503010">
                  <a:moveTo>
                    <a:pt x="0" y="0"/>
                  </a:moveTo>
                  <a:lnTo>
                    <a:pt x="2503010" y="0"/>
                  </a:lnTo>
                  <a:lnTo>
                    <a:pt x="2503010" y="801049"/>
                  </a:lnTo>
                  <a:lnTo>
                    <a:pt x="0" y="801049"/>
                  </a:lnTo>
                  <a:close/>
                </a:path>
              </a:pathLst>
            </a:custGeom>
            <a:ln w="9525" cap="sq">
              <a:solidFill>
                <a:srgbClr val="2C4622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03010" cy="848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36674" y="6932930"/>
            <a:ext cx="8941636" cy="23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Gunakan jarak pemotretan sekitar 200 mm atau lebih dekat.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Pertahankan resolusi tinggi sebelum resize ke 640 × 480 px.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Pastikan seluruh daun terlihat dan pencahayaan cukup merata.</a:t>
            </a: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sz="2200">
                <a:solidFill>
                  <a:srgbClr val="2C4622"/>
                </a:solidFill>
                <a:latin typeface="Canva Sans"/>
                <a:ea typeface="Canva Sans"/>
                <a:cs typeface="Canva Sans"/>
                <a:sym typeface="Canva Sans"/>
              </a:rPr>
              <a:t>Gunakan alas kontras dan hindari bayangan yang menutupi daun.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068347" y="6382068"/>
            <a:ext cx="443914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true">
                <a:solidFill>
                  <a:srgbClr val="2C462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Rekomendasi Jarak dan Resolusi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2169" y="2471006"/>
            <a:ext cx="12247315" cy="6233101"/>
          </a:xfrm>
          <a:custGeom>
            <a:avLst/>
            <a:gdLst/>
            <a:ahLst/>
            <a:cxnLst/>
            <a:rect r="r" b="b" t="t" l="l"/>
            <a:pathLst>
              <a:path h="6233101" w="12247315">
                <a:moveTo>
                  <a:pt x="0" y="0"/>
                </a:moveTo>
                <a:lnTo>
                  <a:pt x="12247315" y="0"/>
                </a:lnTo>
                <a:lnTo>
                  <a:pt x="12247315" y="6233101"/>
                </a:lnTo>
                <a:lnTo>
                  <a:pt x="0" y="6233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93" t="0" r="-89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17694"/>
            <a:ext cx="8372183" cy="177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9"/>
              </a:lnSpc>
            </a:pPr>
            <a:r>
              <a:rPr lang="en-US" sz="6988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KANAL DAN WARNA TERPILIH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0398" y="3013540"/>
            <a:ext cx="3981771" cy="5043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sz="3571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Kanal R dipilih sebagai kanal warna paling informatif berdasarkan hasil pengujian pada kelas bercak berat.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708" y="3589678"/>
            <a:ext cx="7661674" cy="5668622"/>
            <a:chOff x="0" y="0"/>
            <a:chExt cx="1186994" cy="8782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86994" cy="878218"/>
            </a:xfrm>
            <a:custGeom>
              <a:avLst/>
              <a:gdLst/>
              <a:ahLst/>
              <a:cxnLst/>
              <a:rect r="r" b="b" t="t" l="l"/>
              <a:pathLst>
                <a:path h="878218" w="1186994">
                  <a:moveTo>
                    <a:pt x="0" y="0"/>
                  </a:moveTo>
                  <a:lnTo>
                    <a:pt x="1186994" y="0"/>
                  </a:lnTo>
                  <a:lnTo>
                    <a:pt x="1186994" y="878218"/>
                  </a:lnTo>
                  <a:lnTo>
                    <a:pt x="0" y="878218"/>
                  </a:lnTo>
                  <a:close/>
                </a:path>
              </a:pathLst>
            </a:custGeom>
            <a:blipFill>
              <a:blip r:embed="rId2"/>
              <a:stretch>
                <a:fillRect l="0" t="-684" r="0" b="-684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947243" y="382224"/>
            <a:ext cx="5947627" cy="9522551"/>
          </a:xfrm>
          <a:custGeom>
            <a:avLst/>
            <a:gdLst/>
            <a:ahLst/>
            <a:cxnLst/>
            <a:rect r="r" b="b" t="t" l="l"/>
            <a:pathLst>
              <a:path h="9522551" w="5947627">
                <a:moveTo>
                  <a:pt x="0" y="0"/>
                </a:moveTo>
                <a:lnTo>
                  <a:pt x="5947627" y="0"/>
                </a:lnTo>
                <a:lnTo>
                  <a:pt x="5947627" y="9522552"/>
                </a:lnTo>
                <a:lnTo>
                  <a:pt x="0" y="952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2708" y="240589"/>
            <a:ext cx="8814535" cy="1675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3"/>
              </a:lnSpc>
            </a:pPr>
            <a:r>
              <a:rPr lang="en-US" sz="6620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DIAGNOSIS DAN PERBAIKAN CITRA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05305" y="5223623"/>
            <a:ext cx="8814535" cy="89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3"/>
              </a:lnSpc>
            </a:pPr>
            <a:r>
              <a:rPr lang="en-US" sz="6620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GAK NGERTI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9351" y="3116040"/>
            <a:ext cx="10145527" cy="2815384"/>
          </a:xfrm>
          <a:custGeom>
            <a:avLst/>
            <a:gdLst/>
            <a:ahLst/>
            <a:cxnLst/>
            <a:rect r="r" b="b" t="t" l="l"/>
            <a:pathLst>
              <a:path h="2815384" w="10145527">
                <a:moveTo>
                  <a:pt x="0" y="0"/>
                </a:moveTo>
                <a:lnTo>
                  <a:pt x="10145527" y="0"/>
                </a:lnTo>
                <a:lnTo>
                  <a:pt x="10145527" y="2815383"/>
                </a:lnTo>
                <a:lnTo>
                  <a:pt x="0" y="2815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24583" y="2422660"/>
            <a:ext cx="6176326" cy="3860204"/>
          </a:xfrm>
          <a:custGeom>
            <a:avLst/>
            <a:gdLst/>
            <a:ahLst/>
            <a:cxnLst/>
            <a:rect r="r" b="b" t="t" l="l"/>
            <a:pathLst>
              <a:path h="3860204" w="6176326">
                <a:moveTo>
                  <a:pt x="0" y="0"/>
                </a:moveTo>
                <a:lnTo>
                  <a:pt x="6176327" y="0"/>
                </a:lnTo>
                <a:lnTo>
                  <a:pt x="6176327" y="3860204"/>
                </a:lnTo>
                <a:lnTo>
                  <a:pt x="0" y="3860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33329" y="6565524"/>
            <a:ext cx="13708378" cy="3427094"/>
          </a:xfrm>
          <a:custGeom>
            <a:avLst/>
            <a:gdLst/>
            <a:ahLst/>
            <a:cxnLst/>
            <a:rect r="r" b="b" t="t" l="l"/>
            <a:pathLst>
              <a:path h="3427094" w="13708378">
                <a:moveTo>
                  <a:pt x="0" y="0"/>
                </a:moveTo>
                <a:lnTo>
                  <a:pt x="13708378" y="0"/>
                </a:lnTo>
                <a:lnTo>
                  <a:pt x="13708378" y="3427095"/>
                </a:lnTo>
                <a:lnTo>
                  <a:pt x="0" y="34270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89351" y="560682"/>
            <a:ext cx="6692448" cy="231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1"/>
              </a:lnSpc>
            </a:pPr>
            <a:r>
              <a:rPr lang="en-US" sz="9055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PENAPISAN CITRA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07547">
            <a:off x="15805748" y="-519286"/>
            <a:ext cx="3452745" cy="3474461"/>
          </a:xfrm>
          <a:custGeom>
            <a:avLst/>
            <a:gdLst/>
            <a:ahLst/>
            <a:cxnLst/>
            <a:rect r="r" b="b" t="t" l="l"/>
            <a:pathLst>
              <a:path h="3474461" w="3452745">
                <a:moveTo>
                  <a:pt x="0" y="0"/>
                </a:moveTo>
                <a:lnTo>
                  <a:pt x="3452746" y="0"/>
                </a:lnTo>
                <a:lnTo>
                  <a:pt x="3452746" y="3474461"/>
                </a:lnTo>
                <a:lnTo>
                  <a:pt x="0" y="34744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5168" y="3398869"/>
            <a:ext cx="16494132" cy="2046678"/>
          </a:xfrm>
          <a:custGeom>
            <a:avLst/>
            <a:gdLst/>
            <a:ahLst/>
            <a:cxnLst/>
            <a:rect r="r" b="b" t="t" l="l"/>
            <a:pathLst>
              <a:path h="2046678" w="16494132">
                <a:moveTo>
                  <a:pt x="0" y="0"/>
                </a:moveTo>
                <a:lnTo>
                  <a:pt x="16494132" y="0"/>
                </a:lnTo>
                <a:lnTo>
                  <a:pt x="16494132" y="2046678"/>
                </a:lnTo>
                <a:lnTo>
                  <a:pt x="0" y="20466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6675" r="0" b="-33436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1328583" y="6283112"/>
          <a:ext cx="3771900" cy="5029200"/>
        </p:xfrm>
        <a:graphic>
          <a:graphicData uri="http://schemas.openxmlformats.org/presentationml/2006/ole">
            <p:oleObj imgW="4775200" imgH="60325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765168" y="639910"/>
            <a:ext cx="8459066" cy="224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5"/>
              </a:lnSpc>
            </a:pPr>
            <a:r>
              <a:rPr lang="en-US" sz="8761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RANGKAIAN PRAPROSES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0063" y="3102008"/>
            <a:ext cx="3982403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1. Diagram rangkaian praproses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664622"/>
            <a:ext cx="2953464" cy="342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  <a:r>
              <a:rPr lang="en-US" b="true" sz="1899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. Tabel parameter final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47395" y="6206912"/>
            <a:ext cx="9086641" cy="2388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2C4622"/>
                </a:solidFill>
                <a:latin typeface="Poppins"/>
                <a:ea typeface="Poppins"/>
                <a:cs typeface="Poppins"/>
                <a:sym typeface="Poppins"/>
              </a:rPr>
              <a:t>Rangkaian praproses menggabungkan resize, koreksi gamma, CLAHE, dan median filter untuk menyiapkan citra daun teh sebelum dianalisis lebih lanjut. Parameter disimpan agar proses dapat dilakukan secara konsisten dan diulang kembali.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028700" y="2819383"/>
          <a:ext cx="9429750" cy="3771900"/>
        </p:xfrm>
        <a:graphic>
          <a:graphicData uri="http://schemas.openxmlformats.org/presentationml/2006/ole">
            <p:oleObj imgW="11315700" imgH="5651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920944" y="676026"/>
            <a:ext cx="10558137" cy="1301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51"/>
              </a:lnSpc>
            </a:pPr>
            <a:r>
              <a:rPr lang="en-US" sz="9416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HASIL INTEGRASI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40314" y="1503373"/>
          <a:ext cx="3771900" cy="3771900"/>
        </p:xfrm>
        <a:graphic>
          <a:graphicData uri="http://schemas.openxmlformats.org/presentationml/2006/ole">
            <p:oleObj imgW="4521200" imgH="4521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028700" y="189623"/>
            <a:ext cx="15937149" cy="83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9"/>
              </a:lnSpc>
            </a:pPr>
            <a:r>
              <a:rPr lang="en-US" sz="6084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TANGGUNG JAWAB DAN KETERBATASAN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F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0433"/>
            <a:ext cx="11164771" cy="114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3"/>
              </a:lnSpc>
            </a:pPr>
            <a:r>
              <a:rPr lang="en-US" sz="4514" b="true">
                <a:solidFill>
                  <a:srgbClr val="2C4622"/>
                </a:solidFill>
                <a:latin typeface="Poppins Bold"/>
                <a:ea typeface="Poppins Bold"/>
                <a:cs typeface="Poppins Bold"/>
                <a:sym typeface="Poppins Bold"/>
              </a:rPr>
              <a:t>KESIMPULAN DAN LANGKAH BERIKUTNYA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19224" y="2512898"/>
            <a:ext cx="8505693" cy="6745402"/>
            <a:chOff x="0" y="0"/>
            <a:chExt cx="11340924" cy="899386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340924" cy="8993869"/>
              <a:chOff x="0" y="0"/>
              <a:chExt cx="2240182" cy="17765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40182" cy="1776567"/>
              </a:xfrm>
              <a:custGeom>
                <a:avLst/>
                <a:gdLst/>
                <a:ahLst/>
                <a:cxnLst/>
                <a:rect r="r" b="b" t="t" l="l"/>
                <a:pathLst>
                  <a:path h="1776567" w="2240182">
                    <a:moveTo>
                      <a:pt x="0" y="0"/>
                    </a:moveTo>
                    <a:lnTo>
                      <a:pt x="2240182" y="0"/>
                    </a:lnTo>
                    <a:lnTo>
                      <a:pt x="2240182" y="1776567"/>
                    </a:lnTo>
                    <a:lnTo>
                      <a:pt x="0" y="1776567"/>
                    </a:lnTo>
                    <a:close/>
                  </a:path>
                </a:pathLst>
              </a:custGeom>
              <a:ln w="9525" cap="sq">
                <a:solidFill>
                  <a:srgbClr val="2C4622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2240182" cy="18241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95757" y="247654"/>
              <a:ext cx="10424643" cy="84128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2C46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Tiga T</a:t>
              </a:r>
              <a:r>
                <a:rPr lang="en-US" b="true" sz="2745">
                  <a:solidFill>
                    <a:srgbClr val="2C46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emuan Utama</a:t>
              </a:r>
            </a:p>
            <a:p>
              <a:pPr algn="just" marL="592806" indent="-296403" lvl="1">
                <a:lnSpc>
                  <a:spcPts val="3844"/>
                </a:lnSpc>
                <a:spcBef>
                  <a:spcPct val="0"/>
                </a:spcBef>
                <a:buAutoNum type="arabicPeriod" startAt="1"/>
              </a:pPr>
              <a:r>
                <a:rPr lang="en-US" sz="2745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Kanal warna: Kanal R menunjukkan nilai KB tertinggi pada pengujian kelas bercak berat di lima kondisi pencahayaan.</a:t>
              </a:r>
            </a:p>
            <a:p>
              <a:pPr algn="just" marL="592806" indent="-296403" lvl="1">
                <a:lnSpc>
                  <a:spcPts val="3844"/>
                </a:lnSpc>
                <a:spcBef>
                  <a:spcPct val="0"/>
                </a:spcBef>
                <a:buAutoNum type="arabicPeriod" startAt="1"/>
              </a:pPr>
              <a:r>
                <a:rPr lang="en-US" sz="2745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Perbaikan citra: CLAHE meningkatkan KB pada beberapa pengujian, tetapi hasilnya berbeda bergantung pada kondisi pencahayaan.</a:t>
              </a:r>
            </a:p>
            <a:p>
              <a:pPr algn="just" marL="592806" indent="-296403" lvl="1">
                <a:lnSpc>
                  <a:spcPts val="3844"/>
                </a:lnSpc>
                <a:spcBef>
                  <a:spcPct val="0"/>
                </a:spcBef>
                <a:buAutoNum type="arabicPeriod" startAt="1"/>
              </a:pPr>
              <a:r>
                <a:rPr lang="en-US" sz="2745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Penapisan dan praproses: Median Filter membantu mengurangi derau, tetapi ukuran kernel terlalu besar dapat menghilangkan detail bercak kecil.</a:t>
              </a:r>
            </a:p>
            <a:p>
              <a:pPr algn="just">
                <a:lnSpc>
                  <a:spcPts val="384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924916" y="2512898"/>
            <a:ext cx="9144000" cy="6729379"/>
            <a:chOff x="0" y="0"/>
            <a:chExt cx="12192000" cy="897250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2192000" cy="8972505"/>
              <a:chOff x="0" y="0"/>
              <a:chExt cx="2240182" cy="164862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240182" cy="1648626"/>
              </a:xfrm>
              <a:custGeom>
                <a:avLst/>
                <a:gdLst/>
                <a:ahLst/>
                <a:cxnLst/>
                <a:rect r="r" b="b" t="t" l="l"/>
                <a:pathLst>
                  <a:path h="1648626" w="2240182">
                    <a:moveTo>
                      <a:pt x="0" y="0"/>
                    </a:moveTo>
                    <a:lnTo>
                      <a:pt x="2240182" y="0"/>
                    </a:lnTo>
                    <a:lnTo>
                      <a:pt x="2240182" y="1648626"/>
                    </a:lnTo>
                    <a:lnTo>
                      <a:pt x="0" y="1648626"/>
                    </a:lnTo>
                    <a:close/>
                  </a:path>
                </a:pathLst>
              </a:custGeom>
              <a:ln w="9525" cap="sq">
                <a:solidFill>
                  <a:srgbClr val="2C4622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2240182" cy="16962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25457" y="272672"/>
              <a:ext cx="11206957" cy="83414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132"/>
                </a:lnSpc>
                <a:spcBef>
                  <a:spcPct val="0"/>
                </a:spcBef>
              </a:pPr>
              <a:r>
                <a:rPr lang="en-US" b="true" sz="2951">
                  <a:solidFill>
                    <a:srgbClr val="2C46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</a:t>
              </a:r>
              <a:r>
                <a:rPr lang="en-US" b="true" sz="2951">
                  <a:solidFill>
                    <a:srgbClr val="2C462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encana Pertemuan 5 (Deteksi Tepi)</a:t>
              </a:r>
            </a:p>
            <a:p>
              <a:pPr algn="just" marL="637293" indent="-318646" lvl="1">
                <a:lnSpc>
                  <a:spcPts val="413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1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Menggunakan fungsi praproses() dan parameter final dari param_praproses.json.</a:t>
              </a:r>
            </a:p>
            <a:p>
              <a:pPr algn="just" marL="637293" indent="-318646" lvl="1">
                <a:lnSpc>
                  <a:spcPts val="413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1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M</a:t>
              </a:r>
              <a:r>
                <a:rPr lang="en-US" sz="2951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enghitung gradien pada kanal warna terpilih.</a:t>
              </a:r>
            </a:p>
            <a:p>
              <a:pPr algn="just" marL="637293" indent="-318646" lvl="1">
                <a:lnSpc>
                  <a:spcPts val="413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1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Menguji apakah deteksi tepi dapat membantu menemukan batas daun dan bercak.</a:t>
              </a:r>
            </a:p>
            <a:p>
              <a:pPr algn="just" marL="637293" indent="-318646" lvl="1">
                <a:lnSpc>
                  <a:spcPts val="413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951">
                  <a:solidFill>
                    <a:srgbClr val="2C4622"/>
                  </a:solidFill>
                  <a:latin typeface="Poppins"/>
                  <a:ea typeface="Poppins"/>
                  <a:cs typeface="Poppins"/>
                  <a:sym typeface="Poppins"/>
                </a:rPr>
                <a:t>Menentukan apakah deteksi tepi layak digunakan berdasarkan hasil pengujian.</a:t>
              </a:r>
            </a:p>
            <a:p>
              <a:pPr algn="just">
                <a:lnSpc>
                  <a:spcPts val="413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DAHZoqmYQzk</dc:identifier>
  <dcterms:modified xsi:type="dcterms:W3CDTF">2011-08-01T06:04:30Z</dcterms:modified>
  <cp:revision>1</cp:revision>
  <dc:title>PPT COMVI</dc:title>
</cp:coreProperties>
</file>